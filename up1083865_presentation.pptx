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1AF14-B358-0BB7-83E9-4B8A785C2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B05BD-4A07-A87C-9E9B-C6F09D0D2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3C6B-12F9-2521-716F-B0477F06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BD21-91CE-47DC-D0A0-A335F24F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1DF2E-0CAA-1EFC-7DF9-3A90DA52E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85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2212-220C-1F1E-2C09-448C7D5D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40EB4-8987-7740-6FE7-DE65BDA66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A8BBF-65F5-6708-BCDB-FD3BF97B3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1B689-8974-BBE2-D163-D8BA2F29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58D56-C1A5-CBC3-BE8D-007233222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3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5001-65D5-7C97-71F8-53A01586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CEDC8-D4BD-977D-D007-154F694CC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9034-B4DB-99B6-E740-1B06F139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424A4-D1F7-78D3-1276-57AC8791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C9106-4E69-BA29-152B-2A7B541D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196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5723-664C-4E7B-7BEE-456E1DEA0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C0565-FD58-918E-EB2C-05F59DEC39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AF2F1-BB2F-383A-0AD1-01FFA626F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27E0E-77F6-D3E5-71DF-EF48B6E31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9FE27-F669-3615-A405-B8F6873A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EF466-B95A-702C-C35F-3F68DC0D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407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0957B-C245-FEE1-1822-6D651C8B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1245E-02CF-0C8B-A028-ED0B05FBC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3CA67-637C-A842-F943-4FF253CFA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B3B75-87D4-DBFB-1672-F884E97184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E9651B-2154-4B31-5787-8BB3FDD56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1D04D8-B65B-03BA-312F-018DDDD0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07930-BC52-F187-508D-B26B8F9C4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4710E5-A4EF-E066-9623-4E1EAAAC1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415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F16C-1644-CC7A-01CC-50800908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A5554-425A-5BD8-CD0E-0E6DC8268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2379E-2550-08CE-900A-2337B180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4C32F-0E97-50C0-1BC3-E2ECE291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66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4D4527-2BFB-730B-FC35-D40B9EC1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F1C04F-08DE-1172-ACF0-9C20854E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F93DC-21D1-B63E-B033-FA74C63BC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434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8640-9FF8-D310-025B-5E3AE78E1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310C-7255-FB3D-8719-08E93A457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395E6-1DDC-331C-8765-4445DB5F7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FA080-F185-AB44-C736-36136F688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A93F4-A158-79C8-2FAA-F983DAD0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76A97-973A-DD0E-4091-071A97BB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2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5A04-F522-00E4-2A8B-BC7FED321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19A329-A7E3-D708-9395-C7BA4B6F1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3EF9-991D-52A9-3212-BE28E0AB2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921DF-2F9D-710F-4903-0D08D648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AE752-FB51-1F53-A9C5-251C088A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5F581-9624-BF2F-5D3A-F91DC12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421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08A8D-E5A4-3B3F-4105-ABAF4D7A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6FD92-9E20-12A5-7992-EEFE2CA92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17B3A-10C3-D97F-53AA-9B6BD376F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89294-2F06-E999-DC6A-B602026D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66B5D-150C-916E-A65C-66C15636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64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FE252-6463-B912-D22C-FF9058E473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AF3EA6-6800-3732-225D-56891774C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83DD9-65B2-3713-B32D-EF6AE48F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CBF83-90DF-AFBC-23E9-337958E2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04C4C-B64D-D44E-891C-9D85E1D5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0080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56D68F-F549-87B0-80A8-79AE2489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BAFE1-1C79-2C2D-CBA4-F173E20B1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78CBA-80D1-A12F-830B-2B337B017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ABF4C-46DD-4443-BBA6-C6D4A3719FA6}" type="datetimeFigureOut">
              <a:rPr lang="en-GB" smtClean="0"/>
              <a:t>19/01/2026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9D62E-EE39-C364-33B3-084D4808A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D6925-9831-E2F8-45FE-64CDB3FB8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2E4DB-40C1-4D5E-AA87-72ED36B22E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05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ultrongr/BigData_beac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6EA1C-4BE4-C6BC-126B-2D70B1DD0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Clinical and beacons data analysis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03C6D-33A1-124C-206F-596314742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Konstantinos Tsampras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UP1083865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/>
              <a:t>Supervisor: Vasileios Megalooikonomou</a:t>
            </a:r>
          </a:p>
        </p:txBody>
      </p:sp>
    </p:spTree>
    <p:extLst>
      <p:ext uri="{BB962C8B-B14F-4D97-AF65-F5344CB8AC3E}">
        <p14:creationId xmlns:p14="http://schemas.microsoft.com/office/powerpoint/2010/main" val="64267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48B2D-8E6E-E51D-D036-131FC5B7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The task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FDAC7-9904-0FA7-64F9-91E5DCD56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/>
              <a:t>Load and preprocess a clinical dataset with clinical evaluations of each participant.</a:t>
            </a:r>
          </a:p>
          <a:p>
            <a:r>
              <a:rPr lang="en-GB" dirty="0"/>
              <a:t>Train a model to categorize participants based on frailty from their clinical data.</a:t>
            </a:r>
          </a:p>
          <a:p>
            <a:r>
              <a:rPr lang="en-GB" dirty="0"/>
              <a:t>Load and preprocess the beacons dataset, comprised of timestamps of participants entering rooms.</a:t>
            </a:r>
          </a:p>
          <a:p>
            <a:r>
              <a:rPr lang="en-GB" dirty="0"/>
              <a:t>Extract features from the beacons dataset and merge the two datasets.</a:t>
            </a:r>
          </a:p>
          <a:p>
            <a:r>
              <a:rPr lang="en-GB" dirty="0"/>
              <a:t>Perform a clustering on the unified dataset and an exploratory analysis of the results.</a:t>
            </a:r>
          </a:p>
        </p:txBody>
      </p:sp>
    </p:spTree>
    <p:extLst>
      <p:ext uri="{BB962C8B-B14F-4D97-AF65-F5344CB8AC3E}">
        <p14:creationId xmlns:p14="http://schemas.microsoft.com/office/powerpoint/2010/main" val="2385521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880A-12D3-9909-E91E-F11A67949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Clinical dataset (Pre-processing)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D03EE-78B3-C404-AD0C-111603B52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Preprocessing:</a:t>
            </a:r>
          </a:p>
          <a:p>
            <a:r>
              <a:rPr lang="en-GB" dirty="0"/>
              <a:t>Turn values to numerical</a:t>
            </a:r>
          </a:p>
          <a:p>
            <a:r>
              <a:rPr lang="en-GB" dirty="0"/>
              <a:t>Use </a:t>
            </a:r>
            <a:r>
              <a:rPr lang="en-GB" dirty="0" err="1"/>
              <a:t>NaN</a:t>
            </a:r>
            <a:r>
              <a:rPr lang="en-GB" dirty="0"/>
              <a:t> for values like “</a:t>
            </a:r>
            <a:r>
              <a:rPr lang="en-GB" dirty="0" err="1"/>
              <a:t>test_not_realizable</a:t>
            </a:r>
            <a:r>
              <a:rPr lang="en-GB" dirty="0"/>
              <a:t>” and 999.</a:t>
            </a:r>
          </a:p>
          <a:p>
            <a:r>
              <a:rPr lang="en-GB" dirty="0"/>
              <a:t>Fill </a:t>
            </a:r>
            <a:r>
              <a:rPr lang="en-GB" dirty="0" err="1"/>
              <a:t>NaN</a:t>
            </a:r>
            <a:r>
              <a:rPr lang="en-GB" dirty="0"/>
              <a:t> with the median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0819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4E1C-95CC-87E6-59A2-DEF07232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Clinical dataset (neural network)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987A3-479B-BCD1-AC2E-C8EEAE033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05515"/>
            <a:ext cx="5552768" cy="2795536"/>
          </a:xfrm>
        </p:spPr>
        <p:txBody>
          <a:bodyPr>
            <a:normAutofit fontScale="92500"/>
          </a:bodyPr>
          <a:lstStyle/>
          <a:p>
            <a:r>
              <a:rPr lang="en-GB" dirty="0"/>
              <a:t>Split 80-20.</a:t>
            </a:r>
          </a:p>
          <a:p>
            <a:r>
              <a:rPr lang="en-GB" dirty="0"/>
              <a:t>Two hidden layers with </a:t>
            </a:r>
            <a:r>
              <a:rPr lang="en-GB" dirty="0" err="1"/>
              <a:t>ReLU</a:t>
            </a:r>
            <a:r>
              <a:rPr lang="en-GB" dirty="0"/>
              <a:t>.</a:t>
            </a:r>
          </a:p>
          <a:p>
            <a:r>
              <a:rPr lang="en-GB" dirty="0"/>
              <a:t>Adam optimizer, sparse categorical </a:t>
            </a:r>
            <a:r>
              <a:rPr lang="en-GB" dirty="0" err="1"/>
              <a:t>Crossentropy</a:t>
            </a:r>
            <a:r>
              <a:rPr lang="en-GB" dirty="0"/>
              <a:t> loss function.</a:t>
            </a:r>
          </a:p>
          <a:p>
            <a:r>
              <a:rPr lang="en-GB" dirty="0"/>
              <a:t>50 Epochs with a batch size of 8.</a:t>
            </a:r>
          </a:p>
          <a:p>
            <a:r>
              <a:rPr lang="en-GB" dirty="0"/>
              <a:t>50% accuracy.</a:t>
            </a:r>
          </a:p>
        </p:txBody>
      </p:sp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A30813EB-C03C-FE7C-F520-4E95D50D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720" y="1205515"/>
            <a:ext cx="5487503" cy="4751925"/>
          </a:xfrm>
          <a:prstGeom prst="rect">
            <a:avLst/>
          </a:prstGeom>
        </p:spPr>
      </p:pic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F89CE583-14D0-1E26-6DB1-0A58147BB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77" y="4309241"/>
            <a:ext cx="6217107" cy="205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9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F6E3F-0039-86E8-C439-598C560E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367"/>
            <a:ext cx="10515600" cy="1325563"/>
          </a:xfrm>
        </p:spPr>
        <p:txBody>
          <a:bodyPr/>
          <a:lstStyle/>
          <a:p>
            <a:r>
              <a:rPr lang="en-GB" dirty="0"/>
              <a:t>Clinical dataset (Random forest)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3960-81DA-D457-853A-FEDEA343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54930"/>
            <a:ext cx="4858407" cy="1603375"/>
          </a:xfrm>
        </p:spPr>
        <p:txBody>
          <a:bodyPr/>
          <a:lstStyle/>
          <a:p>
            <a:r>
              <a:rPr lang="en-GB" dirty="0"/>
              <a:t>80-20 split.</a:t>
            </a:r>
          </a:p>
          <a:p>
            <a:r>
              <a:rPr lang="en-GB" dirty="0"/>
              <a:t>100 decision trees.</a:t>
            </a:r>
          </a:p>
          <a:p>
            <a:r>
              <a:rPr lang="en-GB" dirty="0"/>
              <a:t>Imbalance addressing.</a:t>
            </a:r>
          </a:p>
          <a:p>
            <a:endParaRPr lang="en-GB" dirty="0"/>
          </a:p>
        </p:txBody>
      </p:sp>
      <p:pic>
        <p:nvPicPr>
          <p:cNvPr id="4" name="Picture 3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B3193FCC-6E3E-BE0A-6512-A1E8DA701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310" y="1790254"/>
            <a:ext cx="5780690" cy="5066629"/>
          </a:xfrm>
          <a:prstGeom prst="rect">
            <a:avLst/>
          </a:prstGeom>
        </p:spPr>
      </p:pic>
      <p:pic>
        <p:nvPicPr>
          <p:cNvPr id="6" name="Picture 5" descr="A chart of a number of colored bars&#10;&#10;AI-generated content may be incorrect.">
            <a:extLst>
              <a:ext uri="{FF2B5EF4-FFF2-40B4-BE49-F238E27FC236}">
                <a16:creationId xmlns:a16="http://schemas.microsoft.com/office/drawing/2014/main" id="{B027ADB5-8220-90E5-19C9-A2BAB2F15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511" y="2730657"/>
            <a:ext cx="6495793" cy="382583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43683B0-6806-FC26-BF2C-909E1D6C3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5103" y="0"/>
            <a:ext cx="3647090" cy="187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57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AD3D-39B0-152D-A328-2D3B6E48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Beacons dataset (Pre-processing)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42E85-4436-B5F8-13F5-EAFF98EF6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5243"/>
            <a:ext cx="8502445" cy="1900801"/>
          </a:xfrm>
        </p:spPr>
        <p:txBody>
          <a:bodyPr/>
          <a:lstStyle/>
          <a:p>
            <a:r>
              <a:rPr lang="en-GB" dirty="0"/>
              <a:t>Renaming wrong labels (</a:t>
            </a:r>
            <a:r>
              <a:rPr lang="en-GB" dirty="0" err="1"/>
              <a:t>LuvingRoom</a:t>
            </a:r>
            <a:r>
              <a:rPr lang="en-GB" dirty="0"/>
              <a:t>-&gt;Livingroom).</a:t>
            </a:r>
          </a:p>
          <a:p>
            <a:r>
              <a:rPr lang="en-GB" dirty="0"/>
              <a:t>Keeping the separation (Livingroom2 != Livingroom).</a:t>
            </a:r>
          </a:p>
          <a:p>
            <a:r>
              <a:rPr lang="en-GB" dirty="0"/>
              <a:t>Fix continuity issues (remove timestamps with the same room twice in a row).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29DDD0-07CB-C20D-F733-8CE302B67E64}"/>
              </a:ext>
            </a:extLst>
          </p:cNvPr>
          <p:cNvSpPr txBox="1">
            <a:spLocks/>
          </p:cNvSpPr>
          <p:nvPr/>
        </p:nvSpPr>
        <p:spPr>
          <a:xfrm>
            <a:off x="1" y="3126657"/>
            <a:ext cx="4876800" cy="35002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Extract features:</a:t>
            </a:r>
          </a:p>
          <a:p>
            <a:r>
              <a:rPr lang="en-GB" dirty="0"/>
              <a:t>% of time in bedroom</a:t>
            </a:r>
          </a:p>
          <a:p>
            <a:r>
              <a:rPr lang="en-GB" dirty="0"/>
              <a:t>% of time in bedroom (night)</a:t>
            </a:r>
          </a:p>
          <a:p>
            <a:r>
              <a:rPr lang="en-GB" dirty="0"/>
              <a:t>% of time in bathroom</a:t>
            </a:r>
          </a:p>
          <a:p>
            <a:r>
              <a:rPr lang="en-GB" dirty="0"/>
              <a:t>% of time in bathroom (night)</a:t>
            </a:r>
          </a:p>
          <a:p>
            <a:r>
              <a:rPr lang="en-GB" dirty="0"/>
              <a:t>% of time outdoors</a:t>
            </a:r>
            <a:endParaRPr lang="en-GB" dirty="0">
              <a:effectLst/>
            </a:endParaRP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DF65AD-AAEB-DDE5-C78F-B04717582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716" y="212975"/>
            <a:ext cx="3500283" cy="652226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B05D7D-0BD8-3C39-35B4-2E8C10B5FE14}"/>
              </a:ext>
            </a:extLst>
          </p:cNvPr>
          <p:cNvSpPr txBox="1">
            <a:spLocks/>
          </p:cNvSpPr>
          <p:nvPr/>
        </p:nvSpPr>
        <p:spPr>
          <a:xfrm>
            <a:off x="4847302" y="3645310"/>
            <a:ext cx="4876800" cy="287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Room changes</a:t>
            </a:r>
            <a:endParaRPr lang="en-GB" dirty="0">
              <a:effectLst/>
            </a:endParaRPr>
          </a:p>
          <a:p>
            <a:r>
              <a:rPr lang="en-GB" dirty="0"/>
              <a:t>Room changes (night)</a:t>
            </a:r>
            <a:endParaRPr lang="en-GB" dirty="0">
              <a:effectLst/>
            </a:endParaRPr>
          </a:p>
          <a:p>
            <a:r>
              <a:rPr lang="en-GB" dirty="0"/>
              <a:t>Room changes per day</a:t>
            </a:r>
            <a:endParaRPr lang="en-GB" dirty="0">
              <a:effectLst/>
            </a:endParaRPr>
          </a:p>
          <a:p>
            <a:r>
              <a:rPr lang="en-GB" dirty="0"/>
              <a:t>Average time per room</a:t>
            </a:r>
            <a:endParaRPr lang="en-GB" dirty="0">
              <a:effectLst/>
            </a:endParaRPr>
          </a:p>
          <a:p>
            <a:endParaRPr lang="en-GB" dirty="0"/>
          </a:p>
        </p:txBody>
      </p:sp>
      <p:pic>
        <p:nvPicPr>
          <p:cNvPr id="8" name="Graphic 7" descr="Warning with solid fill">
            <a:extLst>
              <a:ext uri="{FF2B5EF4-FFF2-40B4-BE49-F238E27FC236}">
                <a16:creationId xmlns:a16="http://schemas.microsoft.com/office/drawing/2014/main" id="{172D9F6F-A75A-BC2E-1929-1267233AB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24102" y="34741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2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DEBC9-119E-E5D3-D555-9576FDE25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Merging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4CFCF-8CCF-098E-8C12-216F666F5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200"/>
              <a:t>After reviewing dataset issues and trying to keep the dimensions under 10 the final features after the merging are:</a:t>
            </a:r>
          </a:p>
          <a:p>
            <a:r>
              <a:rPr lang="en-US" sz="2200"/>
              <a:t>gait_speed_4m</a:t>
            </a:r>
          </a:p>
          <a:p>
            <a:r>
              <a:rPr lang="en-US" sz="2200" err="1"/>
              <a:t>gait_get_up</a:t>
            </a:r>
            <a:endParaRPr lang="en-US" sz="2200"/>
          </a:p>
          <a:p>
            <a:r>
              <a:rPr lang="en-US" sz="2200" err="1"/>
              <a:t>raise_chair_time</a:t>
            </a:r>
            <a:endParaRPr lang="en-US" sz="2200"/>
          </a:p>
          <a:p>
            <a:r>
              <a:rPr lang="en-US" sz="2200" err="1"/>
              <a:t>activity_regular</a:t>
            </a:r>
            <a:endParaRPr lang="en-US" sz="2200"/>
          </a:p>
          <a:p>
            <a:r>
              <a:rPr lang="en-US" sz="2200"/>
              <a:t>age</a:t>
            </a:r>
          </a:p>
          <a:p>
            <a:r>
              <a:rPr lang="en-US" sz="2200" err="1"/>
              <a:t>room_changes_total</a:t>
            </a:r>
            <a:endParaRPr lang="en-US" sz="2200"/>
          </a:p>
          <a:p>
            <a:r>
              <a:rPr lang="en-US" sz="2200" err="1"/>
              <a:t>room_changes_at_night</a:t>
            </a:r>
            <a:endParaRPr lang="en-US" sz="2200"/>
          </a:p>
          <a:p>
            <a:r>
              <a:rPr lang="en-US" sz="2200" err="1"/>
              <a:t>percentage_outdoor</a:t>
            </a:r>
            <a:endParaRPr lang="en-US" sz="2200"/>
          </a:p>
          <a:p>
            <a:r>
              <a:rPr lang="en-US" sz="2200" err="1"/>
              <a:t>average_time_per_room</a:t>
            </a:r>
            <a:endParaRPr lang="en-US" sz="2200"/>
          </a:p>
          <a:p>
            <a:r>
              <a:rPr lang="en-US" sz="2200" err="1"/>
              <a:t>average_room_changes_per_day</a:t>
            </a:r>
            <a:endParaRPr lang="en-GB" sz="2200"/>
          </a:p>
        </p:txBody>
      </p:sp>
    </p:spTree>
    <p:extLst>
      <p:ext uri="{BB962C8B-B14F-4D97-AF65-F5344CB8AC3E}">
        <p14:creationId xmlns:p14="http://schemas.microsoft.com/office/powerpoint/2010/main" val="3857173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4C528-C890-928B-6720-A48B0DD4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CAE0-0861-F467-9FC2-B729DAA52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37993" cy="1012168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Kmeans</a:t>
            </a:r>
            <a:r>
              <a:rPr lang="en-GB" dirty="0"/>
              <a:t> was used as the clustering algorithm.</a:t>
            </a:r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91FFBFD9-F656-F4A1-95BD-22ABD06DE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460" y="365125"/>
            <a:ext cx="5006340" cy="3695065"/>
          </a:xfrm>
          <a:prstGeom prst="rect">
            <a:avLst/>
          </a:prstGeom>
        </p:spPr>
      </p:pic>
      <p:pic>
        <p:nvPicPr>
          <p:cNvPr id="5" name="Picture 4" descr="A line graph with blue dots&#10;&#10;AI-generated content may be incorrect.">
            <a:extLst>
              <a:ext uri="{FF2B5EF4-FFF2-40B4-BE49-F238E27FC236}">
                <a16:creationId xmlns:a16="http://schemas.microsoft.com/office/drawing/2014/main" id="{125D1054-2A61-DF3E-4EB5-4C1C77DB4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36" y="2972730"/>
            <a:ext cx="4998720" cy="368935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C2FB49-E833-6B2A-9EC6-1145D9491763}"/>
              </a:ext>
            </a:extLst>
          </p:cNvPr>
          <p:cNvSpPr txBox="1">
            <a:spLocks/>
          </p:cNvSpPr>
          <p:nvPr/>
        </p:nvSpPr>
        <p:spPr>
          <a:xfrm>
            <a:off x="6487510" y="5036535"/>
            <a:ext cx="5420711" cy="14563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 specific value of k showed promising signs in the elbow method or the silhouette analysis. So, 3 was selected.</a:t>
            </a:r>
          </a:p>
        </p:txBody>
      </p:sp>
    </p:spTree>
    <p:extLst>
      <p:ext uri="{BB962C8B-B14F-4D97-AF65-F5344CB8AC3E}">
        <p14:creationId xmlns:p14="http://schemas.microsoft.com/office/powerpoint/2010/main" val="421549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6F680-77F5-ABB8-670C-209DDF8C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Results 2D PCA</a:t>
            </a:r>
          </a:p>
        </p:txBody>
      </p:sp>
      <p:pic>
        <p:nvPicPr>
          <p:cNvPr id="4" name="Content Placeholder 3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6277D68-6800-15F0-9111-C4F7005EF4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785" y="1675227"/>
            <a:ext cx="1058842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82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A9700-C722-C435-EDD2-1AF8F470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3D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89FFDC-13B7-8C18-9162-4BB9A1009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83" y="31980"/>
            <a:ext cx="8502868" cy="679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55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BA92-4C1B-1AE1-688C-B65909F6B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GB" dirty="0"/>
              <a:t>Numerical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513BC-5449-A7AC-A704-BA6651CB8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25563"/>
            <a:ext cx="5257800" cy="197945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dirty="0"/>
              <a:t>Mean fried score of each cluster</a:t>
            </a:r>
          </a:p>
          <a:p>
            <a:pPr lvl="0"/>
            <a:r>
              <a:rPr lang="en-US" dirty="0"/>
              <a:t>Cluster 0: 0.569 (167 participants)</a:t>
            </a:r>
            <a:endParaRPr lang="en-GB" dirty="0"/>
          </a:p>
          <a:p>
            <a:pPr lvl="0"/>
            <a:r>
              <a:rPr lang="en-US" dirty="0"/>
              <a:t>Cluster 1: 1.391 (23 participants)</a:t>
            </a:r>
            <a:endParaRPr lang="en-GB" dirty="0"/>
          </a:p>
          <a:p>
            <a:pPr lvl="0"/>
            <a:r>
              <a:rPr lang="en-US" dirty="0"/>
              <a:t>Cluster 2: 0.759 (79 participants)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5E1C7D7-CFF6-1342-5AF6-DCE5E58D9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3986" y="122018"/>
            <a:ext cx="3962893" cy="2856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2D011-D355-92DA-9E00-7CD499A62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3" y="3692866"/>
            <a:ext cx="6011917" cy="3070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842E4A-D365-D172-2F68-0E94759F4D2F}"/>
              </a:ext>
            </a:extLst>
          </p:cNvPr>
          <p:cNvSpPr txBox="1"/>
          <p:nvPr/>
        </p:nvSpPr>
        <p:spPr>
          <a:xfrm>
            <a:off x="6442842" y="3593307"/>
            <a:ext cx="551842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Cluster 0: The most athletic with the smallest fried score, most room activity</a:t>
            </a:r>
          </a:p>
          <a:p>
            <a:r>
              <a:rPr lang="en-GB" sz="2000" dirty="0"/>
              <a:t>Cluster 1:  Oldest and least athletic, highest fried score,  average room activity</a:t>
            </a:r>
          </a:p>
          <a:p>
            <a:r>
              <a:rPr lang="en-GB" sz="2000" dirty="0"/>
              <a:t>Cluster 2: Almost as athletic and young as 1, fried score a little bit higher than 1, least room activity</a:t>
            </a:r>
          </a:p>
          <a:p>
            <a:endParaRPr lang="en-GB" sz="2000" dirty="0"/>
          </a:p>
          <a:p>
            <a:r>
              <a:rPr lang="en-GB" sz="2000" dirty="0"/>
              <a:t>Seems like room activity (as measured here) does not always mean less/more frailty.</a:t>
            </a:r>
          </a:p>
        </p:txBody>
      </p:sp>
    </p:spTree>
    <p:extLst>
      <p:ext uri="{BB962C8B-B14F-4D97-AF65-F5344CB8AC3E}">
        <p14:creationId xmlns:p14="http://schemas.microsoft.com/office/powerpoint/2010/main" val="335717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D0FC-BF86-2CA6-B1EE-FDCFDF098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437069"/>
          </a:xfrm>
        </p:spPr>
        <p:txBody>
          <a:bodyPr/>
          <a:lstStyle/>
          <a:p>
            <a:pPr algn="ctr"/>
            <a:r>
              <a:rPr lang="en-GB" dirty="0"/>
              <a:t>Thank you for your attention.</a:t>
            </a:r>
            <a:br>
              <a:rPr lang="en-GB" dirty="0"/>
            </a:br>
            <a:r>
              <a:rPr lang="en-GB" dirty="0"/>
              <a:t>Any 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7113F-B368-11F1-A479-8BABA6953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2" y="4542503"/>
            <a:ext cx="10341077" cy="163446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https://github.com/ultrongr/BigData_beacons/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6506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486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Clinical and beacons data analysis</vt:lpstr>
      <vt:lpstr>The task</vt:lpstr>
      <vt:lpstr>Clinical dataset (Pre-processing)</vt:lpstr>
      <vt:lpstr>Clinical dataset (neural network)</vt:lpstr>
      <vt:lpstr>Clinical dataset (Random forest)</vt:lpstr>
      <vt:lpstr>Beacons dataset (Pre-processing)</vt:lpstr>
      <vt:lpstr>Merging</vt:lpstr>
      <vt:lpstr>Clustering</vt:lpstr>
      <vt:lpstr>Results 2D PCA</vt:lpstr>
      <vt:lpstr>Results 3D PCA</vt:lpstr>
      <vt:lpstr>Numerical results</vt:lpstr>
      <vt:lpstr>Thank you for your attention.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Tsampras</dc:creator>
  <cp:lastModifiedBy>Konstantinos Tsampras</cp:lastModifiedBy>
  <cp:revision>7</cp:revision>
  <dcterms:created xsi:type="dcterms:W3CDTF">2026-01-19T08:34:04Z</dcterms:created>
  <dcterms:modified xsi:type="dcterms:W3CDTF">2026-01-19T13:23:43Z</dcterms:modified>
</cp:coreProperties>
</file>